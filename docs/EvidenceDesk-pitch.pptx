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f6001b970dd456d" /><Relationship Type="http://schemas.openxmlformats.org/officeDocument/2006/relationships/extended-properties" Target="/docProps/app.xml" Id="R4cf554916dda46dc" /><Relationship Type="http://schemas.openxmlformats.org/officeDocument/2006/relationships/officeDocument" Target="/ppt/presentation.xml" Id="R0c73d4e98f824da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8b639cfddbd4605"/>
  </p:sldMasterIdLst>
  <p:notesMasterIdLst>
    <p:notesMasterId xmlns:r="http://schemas.openxmlformats.org/officeDocument/2006/relationships" r:id="Rf2ac9f4f5f9947f4"/>
  </p:notesMasterIdLst>
  <p:sldIdLst>
    <p:sldId xmlns:r="http://schemas.openxmlformats.org/officeDocument/2006/relationships" id="256" r:id="R1e0aedff2c9f4e57"/>
    <p:sldId xmlns:r="http://schemas.openxmlformats.org/officeDocument/2006/relationships" id="257" r:id="R2c51f4841518422b"/>
    <p:sldId xmlns:r="http://schemas.openxmlformats.org/officeDocument/2006/relationships" id="258" r:id="Rd32eb2f909c64d37"/>
    <p:sldId xmlns:r="http://schemas.openxmlformats.org/officeDocument/2006/relationships" id="259" r:id="R80b7153086144b8e"/>
    <p:sldId xmlns:r="http://schemas.openxmlformats.org/officeDocument/2006/relationships" id="260" r:id="R158736c63d3143f2"/>
    <p:sldId xmlns:r="http://schemas.openxmlformats.org/officeDocument/2006/relationships" id="261" r:id="Rb6e0057e513b4283"/>
    <p:sldId xmlns:r="http://schemas.openxmlformats.org/officeDocument/2006/relationships" id="262" r:id="R0ea2c0285d40444a"/>
    <p:sldId xmlns:r="http://schemas.openxmlformats.org/officeDocument/2006/relationships" id="263" r:id="Ra34b6a42c1d04ac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b6b9997a18e4b1e" /><Relationship Type="http://schemas.openxmlformats.org/officeDocument/2006/relationships/slideMaster" Target="/ppt/slideMasters/slideMaster1.xml" Id="R18b639cfddbd4605" /><Relationship Type="http://schemas.openxmlformats.org/officeDocument/2006/relationships/notesMaster" Target="/ppt/notesMasters/notesMaster1.xml" Id="Rf2ac9f4f5f9947f4" /><Relationship Type="http://schemas.openxmlformats.org/officeDocument/2006/relationships/presProps" Target="/ppt/presProps.xml" Id="R9b3e811a3b074d01" /><Relationship Type="http://schemas.openxmlformats.org/officeDocument/2006/relationships/tableStyles" Target="/ppt/tableStyles.xml" Id="R2a1aa962388c4512" /><Relationship Type="http://schemas.openxmlformats.org/officeDocument/2006/relationships/slide" Target="/ppt/slides/slide1.xml" Id="R1e0aedff2c9f4e57" /><Relationship Type="http://schemas.openxmlformats.org/officeDocument/2006/relationships/slide" Target="/ppt/slides/slide2.xml" Id="R2c51f4841518422b" /><Relationship Type="http://schemas.openxmlformats.org/officeDocument/2006/relationships/slide" Target="/ppt/slides/slide3.xml" Id="Rd32eb2f909c64d37" /><Relationship Type="http://schemas.openxmlformats.org/officeDocument/2006/relationships/slide" Target="/ppt/slides/slide4.xml" Id="R80b7153086144b8e" /><Relationship Type="http://schemas.openxmlformats.org/officeDocument/2006/relationships/slide" Target="/ppt/slides/slide5.xml" Id="R158736c63d3143f2" /><Relationship Type="http://schemas.openxmlformats.org/officeDocument/2006/relationships/slide" Target="/ppt/slides/slide6.xml" Id="Rb6e0057e513b4283" /><Relationship Type="http://schemas.openxmlformats.org/officeDocument/2006/relationships/slide" Target="/ppt/slides/slide7.xml" Id="R0ea2c0285d40444a" /><Relationship Type="http://schemas.openxmlformats.org/officeDocument/2006/relationships/slide" Target="/ppt/slides/slide8.xml" Id="Ra34b6a42c1d04ac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bb03832d041441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a6a76e10a294682" /><Relationship Type="http://schemas.openxmlformats.org/officeDocument/2006/relationships/notesMaster" Target="/ppt/notesMasters/notesMaster1.xml" Id="R6cb0a135291f4c2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88058bb57ac4800" /><Relationship Type="http://schemas.openxmlformats.org/officeDocument/2006/relationships/notesMaster" Target="/ppt/notesMasters/notesMaster1.xml" Id="R279d018ad48541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72c9297d9304130" /><Relationship Type="http://schemas.openxmlformats.org/officeDocument/2006/relationships/notesMaster" Target="/ppt/notesMasters/notesMaster1.xml" Id="Rb56a7f2a80b6451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1bea0ee685b4ec9" /><Relationship Type="http://schemas.openxmlformats.org/officeDocument/2006/relationships/notesMaster" Target="/ppt/notesMasters/notesMaster1.xml" Id="R399cf65635b94fa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8811c8adf7e4b93" /><Relationship Type="http://schemas.openxmlformats.org/officeDocument/2006/relationships/notesMaster" Target="/ppt/notesMasters/notesMaster1.xml" Id="Ree22bd0f121a400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584302fc7e54ece" /><Relationship Type="http://schemas.openxmlformats.org/officeDocument/2006/relationships/notesMaster" Target="/ppt/notesMasters/notesMaster1.xml" Id="R3e597aafda4d44c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ffdc494d1ba49ac" /><Relationship Type="http://schemas.openxmlformats.org/officeDocument/2006/relationships/notesMaster" Target="/ppt/notesMasters/notesMaster1.xml" Id="R15bb37ed43f24d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59d62db98ad4a66" /><Relationship Type="http://schemas.openxmlformats.org/officeDocument/2006/relationships/notesMaster" Target="/ppt/notesMasters/notesMaster1.xml" Id="R36ff38b301da4a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submission-pack.md, Prepared identity and link fields; current-status.md. Local prototype only. No public deployment or completed contest entry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submission-pack.md, Inspiration, Target users and intended value; current-status.md, semantic failure discussion. These are design motivations grounded in prototype failures, not prevalence or time-saving measurements.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submission-pack.md, What it does, How it is built. Native editable product workflow diagram. It represents the implemented local flow, not a screenshot or measured user outcome.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evaluation-v2/context-limits-replacement.json. This is an editable explanatory diagram, not an app screenshot. The claim is paraphrased. Exact records: old line20 E-e044b7b1e2717f071dbb = if user.is_admin:; new line20 E-43ff03b6b37e7fb19447 = if user.is_admin or allow_preview:. One local qwen3.6:35b response. structural validation passed; semantic_truth_checked=false. Fixture author also manually assessed the response. No deployed exploit or runtime effect is established.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submission-pack.md, How it is built; current-status.md, Working flow. The Python standard-library server binds to loopback and rejects other origins/hosts. Ollama is an installed local dependency. No cloud fallback. Native editable architecture diagram. Model runtime requirements/licensing remain separate.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current-status.md; test-results-semantic-v2.txt; evaluation-v2/manual-audit.json. Total audit:9 live responses,24 claims. Selected subset: mixed-final.json3,injection-final.json3,eof-final.json3,context-limits-replacement.json1 =4 runs,10 claims. Same author created synthetic fixtures and manually assessed outputs. Not held out. Latest prompt change tested only focused context-limits rerun; other3 selected cases used immediately preceding prompt.27 checks cover deterministic implementation regressions, not general semantic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local-live-review-citable.json, claim6; current-status.md, preserved limits. The displayed claim shortens quotation punctuation only. Its real evidence ID E-16e9ac27ce2c31c3ce66 points to old name.py line11, text before, no_newline_at_eof:false. That changed-line record does not establish file EOF; the model response also contradicted itself in its rationale. Structural validation passed despite that failure. App validator establishes structure and reference existence, not code correctness, security, completeness or test execution.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submission-pack.md and current-status.md plus parent-verified publication update on 11 September 2026. Public repository: https://github.com/alexsolonsky/evidencedesk at commit 96fa0abeac84f82e01e2b2403a24e9bfa0adb7a3. Parent reports a fresh unauthenticated clone and a 44-file manifest verification passed (45 files including manifest). An actual CLI demonstration is being prepared; a recorded demo is still pending. Evaluation rows remain planned work. No deployment, time saving, user adoption or general accuracy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d38e691171484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1d94df6bf7a4d95" /><Relationship Type="http://schemas.openxmlformats.org/officeDocument/2006/relationships/slideLayout" Target="/ppt/slideLayouts/slideLayout1.xml" Id="Rf68d2860242a488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8d2860242a488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30a474a0f84284" /><Relationship Type="http://schemas.openxmlformats.org/officeDocument/2006/relationships/notesSlide" Target="/ppt/notesSlides/notesSlide1.xml" Id="R387e8e1e1e8b420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c5ffc1d06444de" /><Relationship Type="http://schemas.openxmlformats.org/officeDocument/2006/relationships/notesSlide" Target="/ppt/notesSlides/notesSlide2.xml" Id="R02ca07b584c440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fe8d9ea8ea4f80" /><Relationship Type="http://schemas.openxmlformats.org/officeDocument/2006/relationships/notesSlide" Target="/ppt/notesSlides/notesSlide3.xml" Id="Rae5f3a918eb0495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f44604ce344da0" /><Relationship Type="http://schemas.openxmlformats.org/officeDocument/2006/relationships/notesSlide" Target="/ppt/notesSlides/notesSlide4.xml" Id="R54825b44dbe64d7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cd734d88db403d" /><Relationship Type="http://schemas.openxmlformats.org/officeDocument/2006/relationships/notesSlide" Target="/ppt/notesSlides/notesSlide5.xml" Id="R5bd4aac688d2441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2b2534f5174ac3" /><Relationship Type="http://schemas.openxmlformats.org/officeDocument/2006/relationships/notesSlide" Target="/ppt/notesSlides/notesSlide6.xml" Id="R3477b8541d364f7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54a3a86ecf44d9" /><Relationship Type="http://schemas.openxmlformats.org/officeDocument/2006/relationships/notesSlide" Target="/ppt/notesSlides/notesSlide7.xml" Id="R1f0c9005a47b4ce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d271d4b51347e4" /><Relationship Type="http://schemas.openxmlformats.org/officeDocument/2006/relationships/notesSlide" Target="/ppt/notesSlides/notesSlide8.xml" Id="Rc12e38e514fe49c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C20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68B87B-53C7-46C2-9BE8-BA1CF5F5A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585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1">
                <a:solidFill>
                  <a:srgbClr val="F4F0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6900" b="1">
                <a:solidFill>
                  <a:srgbClr val="F4F0E8"/>
                </a:solidFill>
                <a:latin typeface="Helvetica Neue"/>
                <a:ea typeface="Helvetica Neue"/>
                <a:cs typeface="Helvetica Neue"/>
              </a:rPr>
              <a:t>EvidenceDesk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289B1F-C395-4860-9A71-F33BAE04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9810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0">
                <a:solidFill>
                  <a:srgbClr val="AEBC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0">
                <a:solidFill>
                  <a:srgbClr val="AEBCC7"/>
                </a:solidFill>
                <a:latin typeface="Helvetica Neue"/>
                <a:ea typeface="Helvetica Neue"/>
                <a:cs typeface="Helvetica Neue"/>
              </a:rPr>
              <a:t>Local AI code review</a:t>
            </a:r>
          </a:p>
          <a:p xmlns:a="http://schemas.openxmlformats.org/drawingml/2006/main">
            <a:pPr algn="l">
              <a:defRPr sz="2850" b="0">
                <a:solidFill>
                  <a:srgbClr val="AEBC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0">
                <a:solidFill>
                  <a:srgbClr val="AEBCC7"/>
                </a:solidFill>
                <a:latin typeface="Helvetica Neue"/>
                <a:ea typeface="Helvetica Neue"/>
                <a:cs typeface="Helvetica Neue"/>
              </a:rPr>
              <a:t>with exact source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89674C-AC99-4D93-8CEF-52240EF20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5785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4F0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F4F0E8"/>
                </a:solidFill>
                <a:latin typeface="Helvetica Neue"/>
                <a:ea typeface="Helvetica Neue"/>
                <a:cs typeface="Helvetica Neue"/>
              </a:rPr>
              <a:t>Aleksei Solonskii / Alex SOLONSKY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72D645-1781-4D51-9CA3-B2EB12F22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67425"/>
            <a:ext cx="981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EBC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AEBCC7"/>
                </a:solidFill>
                <a:latin typeface="Helvetica Neue"/>
                <a:ea typeface="Helvetica Neue"/>
                <a:cs typeface="Helvetica Neue"/>
              </a:rPr>
              <a:t>Local prototype,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16047574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EABBD7-78E4-46A1-82BB-AB05B1EBE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The review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E31415-D66A-4F0D-AAC0-A1FB1B471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22935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F18E1C-08A2-4FD8-86CC-0D99166D5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"/>
            <a:ext cx="10668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A plausible explanation can still be wrong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42B85E-79EC-4A84-8730-52D213EF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90850"/>
            <a:ext cx="4810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9E45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9E4540"/>
                </a:solidFill>
                <a:latin typeface="Helvetica Neue"/>
                <a:ea typeface="Helvetica Neue"/>
                <a:cs typeface="Helvetica Neue"/>
              </a:rPr>
              <a:t>Reference error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87C193-A6ED-4FF8-8567-17251DFF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62350"/>
            <a:ext cx="4762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The cited line is missing</a:t>
            </a:r>
          </a:p>
          <a:p xmlns:a="http://schemas.openxmlformats.org/drawingml/2006/main">
            <a:pPr algn="l">
              <a:defRPr sz="2325" b="0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or points to a different change.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FF672B-BA4F-4F78-B45F-7286796F2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90850"/>
            <a:ext cx="4810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9E45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9E4540"/>
                </a:solidFill>
                <a:latin typeface="Helvetica Neue"/>
                <a:ea typeface="Helvetica Neue"/>
                <a:cs typeface="Helvetica Neue"/>
              </a:rPr>
              <a:t>Reasoning error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8CDF86-3B0C-4F17-BD1D-55968147C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62350"/>
            <a:ext cx="481012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The line exists, but the claim</a:t>
            </a:r>
          </a:p>
          <a:p xmlns:a="http://schemas.openxmlformats.org/drawingml/2006/main">
            <a:pPr algn="l">
              <a:defRPr sz="2325" b="0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goes beyond what it shows.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F3053A-B819-4EF5-8937-F18A8B8BF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81650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Intended users: developers reviewing small Git changes.</a:t>
            </a:r>
          </a:p>
        </p:txBody>
      </p:sp>
    </p:spTree>
    <p:extLst>
      <p:ext uri="{BB962C8B-B14F-4D97-AF65-F5344CB8AC3E}">
        <p14:creationId xmlns:p14="http://schemas.microsoft.com/office/powerpoint/2010/main" val="15120928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DBDC2F7-E522-4729-AFEE-D8E9C2069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The review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AA449B-8107-404E-9219-8F88ECC49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22935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4E351C-D3D0-46AF-8439-83C850E7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0325"/>
            <a:ext cx="1685925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7C9C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B67E8F-4BDB-4894-821E-EEF3FA53C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1619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ABB8BE-0B22-4530-8D2E-18EC89688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52725"/>
            <a:ext cx="14382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Paste a diff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F36DB1-88C8-4E51-A23B-9A7D98029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486150"/>
            <a:ext cx="14382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Git unified diff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435A34-60D8-47D0-A88C-109689AA0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600325"/>
            <a:ext cx="1685925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7C9C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087C54-58DE-4D59-A44E-752403D77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038350"/>
            <a:ext cx="1619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38069B-F884-4F41-BB4C-1E4AF0F24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52725"/>
            <a:ext cx="14382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Inspect lines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E3BE8D-FB84-4989-B030-237AC1F9B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486150"/>
            <a:ext cx="14382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Old and new sides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68CA7D-BA25-46DB-9923-497497DB6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600325"/>
            <a:ext cx="1685925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7C9CE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FB295E-F71F-4B85-BFDD-D7A275B1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38350"/>
            <a:ext cx="1619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E15BE9-5D7F-4A2C-97FA-D893EF717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752725"/>
            <a:ext cx="14382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Run local 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4E6E0D-1E0A-4C10-ADE9-2128FDFCD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486150"/>
            <a:ext cx="14382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Installed Ollama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09AD92-E3DD-4E3B-9E0F-7A60896F1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2600325"/>
            <a:ext cx="1685925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7C9CE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24046C-F452-4AEE-80DB-993D0080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2038350"/>
            <a:ext cx="1619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C1757A-A7DC-42B0-B670-CD4850EEB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52725"/>
            <a:ext cx="14382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Compare claims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77434E-7ACE-4CB2-8A43-81B3F019C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86150"/>
            <a:ext cx="14382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Exact source IDs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75D426-8AA3-40AC-966D-83A1A4AC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00325"/>
            <a:ext cx="1685925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7C9CE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0CCD02-73BA-4679-8C35-10C2EBD2F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38350"/>
            <a:ext cx="1619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B8421F-750D-4878-B5A9-49E31E77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2752725"/>
            <a:ext cx="14382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Check references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8194AD-F250-44F9-863E-56340C069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3486150"/>
            <a:ext cx="14382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Separate validator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43E0ED-F9B1-4DE0-A157-8E86B7378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2600325"/>
            <a:ext cx="1685925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7C9CE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05A9A0-69D3-42CE-AF5F-5112E1D86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2038350"/>
            <a:ext cx="1619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0B98B8-2C06-4170-9E53-4A8DDFAB5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752725"/>
            <a:ext cx="14382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Export record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F47EBA-908E-4A22-8537-4675CE4C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486150"/>
            <a:ext cx="14382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Review + provenance</a:t>
            </a:r>
          </a:p>
        </p:txBody>
      </p:sp>
      <p:cxnSp>
        <p:nvCxnSpPr>
          <p:cNvPr id="60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200275" y="3333750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477"/>
            </a:solidFill>
            <a:tailEnd type="arrow" w="sm" len="sm"/>
          </a:ln>
        </p:spPr>
      </p:cxnSp>
      <p:cxnSp>
        <p:nvCxnSpPr>
          <p:cNvPr id="61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4095750" y="3333750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477"/>
            </a:solidFill>
            <a:tailEnd type="arrow" w="sm" len="sm"/>
          </a:ln>
        </p:spPr>
      </p:cxnSp>
      <p:cxnSp>
        <p:nvCxnSpPr>
          <p:cNvPr id="62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5991225" y="3333750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477"/>
            </a:solidFill>
            <a:tailEnd type="arrow" w="sm" len="sm"/>
          </a:ln>
        </p:spPr>
      </p:cxnSp>
      <p:cxnSp>
        <p:nvCxnSpPr>
          <p:cNvPr id="63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7886700" y="3333750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477"/>
            </a:solidFill>
            <a:tailEnd type="arrow" w="sm" len="sm"/>
          </a:ln>
        </p:spPr>
      </p:cxnSp>
      <p:cxnSp>
        <p:nvCxnSpPr>
          <p:cNvPr id="64" name=""/>
          <p:cNvCxnSpPr>
            <a:stCxn xmlns:a="http://schemas.openxmlformats.org/drawingml/2006/main" id="19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9782175" y="3333750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477"/>
            </a:solidFill>
            <a:tailEnd type="arrow" w="sm" len="sm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09F41D-65F3-4528-9F56-EBCF6E3A7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The reviewer makes the final judgment.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DAB726-88FE-499E-9A65-30D94A286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5307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The exported record keeps the claims and the evidence together.</a:t>
            </a:r>
          </a:p>
        </p:txBody>
      </p:sp>
    </p:spTree>
    <p:extLst>
      <p:ext uri="{BB962C8B-B14F-4D97-AF65-F5344CB8AC3E}">
        <p14:creationId xmlns:p14="http://schemas.microsoft.com/office/powerpoint/2010/main" val="115449203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5462E2-93B0-4D5D-AF68-C39C26969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One observation, two source lines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2B507C-17CD-4F98-9429-25F0E6CA8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22935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4CD0E8-FB4A-4F2D-887D-954A3D84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335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Synthetic example diagram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717D37-2BED-434F-ACE2-0D725D29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595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9E45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9E4540"/>
                </a:solidFill>
                <a:latin typeface="Helvetica Neue"/>
                <a:ea typeface="Helvetica Neue"/>
                <a:cs typeface="Helvetica Neue"/>
              </a:rPr>
              <a:t>access.py, old line 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B19BA8-34ED-447D-9206-B48AFA328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43200"/>
            <a:ext cx="59531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0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if user.is_admin: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7C0496-7640-4B78-8CE0-F5AB49C61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86175"/>
            <a:ext cx="595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66A5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366A59"/>
                </a:solidFill>
                <a:latin typeface="Helvetica Neue"/>
                <a:ea typeface="Helvetica Neue"/>
                <a:cs typeface="Helvetica Neue"/>
              </a:rPr>
              <a:t>access.py, new line 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0EA39F-E4E0-459B-9AF8-A70D6C9E1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81475"/>
            <a:ext cx="61531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if user.is_admin or allow_preview: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F199F6-8D84-4F6E-BD55-1CE53E71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247900"/>
            <a:ext cx="3924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AI observation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96EE58-57B2-4089-A717-C487E7D26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819400"/>
            <a:ext cx="39243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The condition adds</a:t>
            </a:r>
          </a:p>
          <a:p xmlns:a="http://schemas.openxmlformats.org/drawingml/2006/main">
            <a:pPr algn="l">
              <a:defRPr sz="2625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“or allow_preview”.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E85F4E-5E55-444F-99B8-908A5B86A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210050"/>
            <a:ext cx="39243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Both old and new evidence IDs</a:t>
            </a:r>
          </a:p>
          <a:p xmlns:a="http://schemas.openxmlformats.org/drawingml/2006/main">
            <a:pPr algn="l">
              <a:defRPr sz="172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exist in the exported record.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6E1E74-9292-4FF2-97D7-3B331A9AD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29275"/>
            <a:ext cx="10668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Runtime effects depend on omitted context, including the value of allow_preview.</a:t>
            </a:r>
          </a:p>
        </p:txBody>
      </p:sp>
    </p:spTree>
    <p:extLst>
      <p:ext uri="{BB962C8B-B14F-4D97-AF65-F5344CB8AC3E}">
        <p14:creationId xmlns:p14="http://schemas.microsoft.com/office/powerpoint/2010/main" val="18245127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6C5987-001E-44B1-AD49-CB29E2F6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Local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5CD450-8FBC-4027-B572-B5A29DD6A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22935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389098-8CF1-4F72-BF6E-31E00F0B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2762250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7C9C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584E5E-F044-4125-814C-C5AC5733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2457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Browser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45F0F9-FF2B-4CA8-B2AD-636D2DC12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95550"/>
            <a:ext cx="2457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Paste and inspect the diff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1D6E92-8073-451D-9610-0C9E5397D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05000"/>
            <a:ext cx="2762250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7C9C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EAFCCD-E238-4912-ABDE-9F65ACDE8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038350"/>
            <a:ext cx="2457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Python server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BD7170-A0C5-4A7B-BC99-4BA45F11B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495550"/>
            <a:ext cx="2457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Loopback HTTP only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4B946F-6D35-45C7-939D-27A867952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905000"/>
            <a:ext cx="2762250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7C9C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61F0C5-DCDB-4D02-A0B4-A9A33219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038350"/>
            <a:ext cx="2457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Evidence parser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CA3B01-F91C-41BF-93B3-7AD39A4C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495550"/>
            <a:ext cx="2457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Paths, lines and source IDs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B8CE72-14C9-4B6E-8E66-046BB1AED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019550"/>
            <a:ext cx="2762250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7C9CE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EC44D0-5CBE-4883-8B63-2ED6A84C9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152900"/>
            <a:ext cx="2457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Local Ollama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3B27C9-B20D-4811-B58D-D3A504C2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610100"/>
            <a:ext cx="2457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qwen3.6:35b in observed runs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715E32-6D5F-4C15-AF1B-9484205C3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019550"/>
            <a:ext cx="2762250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7C9CE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8394A2-EAAD-4189-B567-FF81A3457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152900"/>
            <a:ext cx="2457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Response validator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DB103D-6F1E-4105-B8B8-52D7BB35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610100"/>
            <a:ext cx="2457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Schema + reference existence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06445D-1513-4439-B92F-95B3DDE8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2762250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7C9CE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99DBAA-6A91-4856-B569-3637A77C2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52900"/>
            <a:ext cx="2457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Review and export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1BF166-1CD3-4721-B059-244122257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10100"/>
            <a:ext cx="2457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Evidence, claims, provenance</a:t>
            </a:r>
          </a:p>
        </p:txBody>
      </p:sp>
      <p:cxnSp>
        <p:nvCxnSpPr>
          <p:cNvPr id="48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448050" y="2471738"/>
            <a:ext cx="12096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477"/>
            </a:solidFill>
            <a:tailEnd type="arrow" w="sm" len="sm"/>
          </a:ln>
        </p:spPr>
      </p:cxnSp>
      <p:cxnSp>
        <p:nvCxnSpPr>
          <p:cNvPr id="49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7419975" y="2471738"/>
            <a:ext cx="12096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477"/>
            </a:solidFill>
            <a:tailEnd type="arrow" w="sm" len="sm"/>
          </a:ln>
        </p:spPr>
      </p:cxnSp>
      <p:cxnSp>
        <p:nvCxnSpPr>
          <p:cNvPr id="50" name=""/>
          <p:cNvCxnSpPr>
            <a:stCxn xmlns:a="http://schemas.openxmlformats.org/drawingml/2006/main" id="9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10010775" y="3038475"/>
            <a:ext cx="0" cy="9810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477"/>
            </a:solidFill>
            <a:tailEnd type="arrow" w="sm" len="sm"/>
          </a:ln>
        </p:spPr>
      </p:cxnSp>
      <p:cxnSp>
        <p:nvCxnSpPr>
          <p:cNvPr id="51" name=""/>
          <p:cNvCxnSpPr>
            <a:stCxn xmlns:a="http://schemas.openxmlformats.org/drawingml/2006/main" id="12" idx="1"/>
            <a:endCxn xmlns:a="http://schemas.openxmlformats.org/drawingml/2006/main" id="15" idx="3"/>
          </p:cNvCxnSpPr>
          <p:nvPr/>
        </p:nvCxnSpPr>
        <p:spPr>
          <a:xfrm xmlns:a="http://schemas.openxmlformats.org/drawingml/2006/main" flipH="1">
            <a:off x="7419975" y="4586288"/>
            <a:ext cx="12096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477"/>
            </a:solidFill>
            <a:tailEnd type="arrow" w="sm" len="sm"/>
          </a:ln>
        </p:spPr>
      </p:cxnSp>
      <p:cxnSp>
        <p:nvCxnSpPr>
          <p:cNvPr id="52" name=""/>
          <p:cNvCxnSpPr>
            <a:stCxn xmlns:a="http://schemas.openxmlformats.org/drawingml/2006/main" id="15" idx="1"/>
            <a:endCxn xmlns:a="http://schemas.openxmlformats.org/drawingml/2006/main" id="18" idx="3"/>
          </p:cNvCxnSpPr>
          <p:nvPr/>
        </p:nvCxnSpPr>
        <p:spPr>
          <a:xfrm xmlns:a="http://schemas.openxmlformats.org/drawingml/2006/main" flipH="1">
            <a:off x="3448050" y="4586288"/>
            <a:ext cx="12096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86477"/>
            </a:solidFill>
            <a:tailEnd type="arrow" w="sm" len="sm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8A9ECF-CD29-481F-8603-F31D02DD2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43550"/>
            <a:ext cx="10801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Diffs remain data. The app does not execute them or persist them.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CC1522-CB19-4306-96E4-8298519B1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72175"/>
            <a:ext cx="10801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Missing local inference produces an explicit unavailable state.</a:t>
            </a:r>
          </a:p>
        </p:txBody>
      </p:sp>
    </p:spTree>
    <p:extLst>
      <p:ext uri="{BB962C8B-B14F-4D97-AF65-F5344CB8AC3E}">
        <p14:creationId xmlns:p14="http://schemas.microsoft.com/office/powerpoint/2010/main" val="19058311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28B827-F98F-46BD-BA9D-20B9A7F3B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Development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133921-FB52-4744-BAF5-7A52F0975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22935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F7C0A1-335D-43BA-B0F7-F7E1CEB22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90725"/>
            <a:ext cx="342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3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63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27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A67266-4925-498A-B49E-D9160CDCA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33623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automated checks</a:t>
            </a:r>
          </a:p>
          <a:p xmlns:a="http://schemas.openxmlformats.org/drawingml/2006/main">
            <a:pPr algn="l">
              <a:defRPr sz="202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passed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8EA9B3-07A7-4777-88E8-183B9368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1990725"/>
            <a:ext cx="342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3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63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4EB21D-27E4-4AF9-BE10-B9BD85611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219450"/>
            <a:ext cx="33623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real local-model</a:t>
            </a:r>
          </a:p>
          <a:p xmlns:a="http://schemas.openxmlformats.org/drawingml/2006/main">
            <a:pPr algn="l">
              <a:defRPr sz="202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responses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077B7F-DC92-4F18-895B-7DF2A5110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90725"/>
            <a:ext cx="342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3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63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E0100A-0B0A-43AC-81D1-FEF45C554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19450"/>
            <a:ext cx="33623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claims manually</a:t>
            </a:r>
          </a:p>
          <a:p xmlns:a="http://schemas.openxmlformats.org/drawingml/2006/main">
            <a:pPr algn="l">
              <a:defRPr sz="202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assessed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D2D2DA-9140-4A27-B55C-A74E3A48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19600"/>
            <a:ext cx="10801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4 selected final runs contain 10 observations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739954-86BC-494D-BC91-F391347B1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10175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The same AI agent authored the fixtures and assessed the responses.</a:t>
            </a:r>
          </a:p>
          <a:p xmlns:a="http://schemas.openxmlformats.org/drawingml/2006/main">
            <a:pPr algn="l">
              <a:defRPr sz="19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Selection followed iteration across two prompt versions.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529BC6-E058-454B-9B1D-AA5AD2ED8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4837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9E45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9E4540"/>
                </a:solidFill>
                <a:latin typeface="Helvetica Neue"/>
                <a:ea typeface="Helvetica Neue"/>
                <a:cs typeface="Helvetica Neue"/>
              </a:rPr>
              <a:t>Small synthetic QA only. No independent accuracy benchmark.</a:t>
            </a:r>
          </a:p>
        </p:txBody>
      </p:sp>
    </p:spTree>
    <p:extLst>
      <p:ext uri="{BB962C8B-B14F-4D97-AF65-F5344CB8AC3E}">
        <p14:creationId xmlns:p14="http://schemas.microsoft.com/office/powerpoint/2010/main" val="6575351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4FC010-EE5E-47ED-91E8-0997868E3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The validation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ADB587-7949-4809-80E1-3E3DE0A71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22935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2D0821-6171-4AB4-999C-5672895C2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A real failure remains in the audit trail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31E4E6-D7CB-4720-B495-293D2942C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19400"/>
            <a:ext cx="6181725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E45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9E4540"/>
                </a:solidFill>
                <a:latin typeface="Helvetica Neue"/>
                <a:ea typeface="Helvetica Neue"/>
                <a:cs typeface="Helvetica Neue"/>
              </a:rPr>
              <a:t>“The file old name.py had no</a:t>
            </a:r>
          </a:p>
          <a:p xmlns:a="http://schemas.openxmlformats.org/drawingml/2006/main">
            <a:pPr algn="l">
              <a:defRPr sz="2550" b="1">
                <a:solidFill>
                  <a:srgbClr val="9E45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9E4540"/>
                </a:solidFill>
                <a:latin typeface="Helvetica Neue"/>
                <a:ea typeface="Helvetica Neue"/>
                <a:cs typeface="Helvetica Neue"/>
              </a:rPr>
              <a:t>trailing newline at line 11.”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4CEDD3-B0D1-4F6F-AB30-AA30158C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38650"/>
            <a:ext cx="6134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The response cited a real record,</a:t>
            </a:r>
          </a:p>
          <a:p xmlns:a="http://schemas.openxmlformats.org/drawingml/2006/main">
            <a:pPr algn="l">
              <a:defRPr sz="210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but misread its EOF evidence.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A6C2C4-180E-4377-9F25-E2F3337BE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838450"/>
            <a:ext cx="40576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Reference validity does not</a:t>
            </a:r>
          </a:p>
          <a:p xmlns:a="http://schemas.openxmlformats.org/drawingml/2006/main">
            <a:pPr algn="l">
              <a:defRPr sz="225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establish semantic truth.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2570EB-CEB2-493F-AC98-93DA19678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133850"/>
            <a:ext cx="40576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Changed text only</a:t>
            </a:r>
          </a:p>
          <a:p xmlns:a="http://schemas.openxmlformats.org/drawingml/2006/main">
            <a:pPr algn="l">
              <a:defRPr sz="19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Omitted runtime context</a:t>
            </a:r>
          </a:p>
          <a:p xmlns:a="http://schemas.openxmlformats.org/drawingml/2006/main">
            <a:pPr algn="l">
              <a:defRPr sz="19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Model errors remain possible</a:t>
            </a:r>
          </a:p>
          <a:p xmlns:a="http://schemas.openxmlformats.org/drawingml/2006/main">
            <a:pPr algn="l">
              <a:defRPr sz="19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86477"/>
                </a:solidFill>
                <a:latin typeface="Helvetica Neue"/>
                <a:ea typeface="Helvetica Neue"/>
                <a:cs typeface="Helvetica Neue"/>
              </a:rPr>
              <a:t>User impact unmeasured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F83579-D5B6-46E3-8ADB-511D7370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1502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C2034"/>
                </a:solidFill>
                <a:latin typeface="Helvetica Neue"/>
                <a:ea typeface="Helvetica Neue"/>
                <a:cs typeface="Helvetica Neue"/>
              </a:rPr>
              <a:t>semantic_truth_checked = false</a:t>
            </a:r>
          </a:p>
        </p:txBody>
      </p:sp>
    </p:spTree>
    <p:extLst>
      <p:ext uri="{BB962C8B-B14F-4D97-AF65-F5344CB8AC3E}">
        <p14:creationId xmlns:p14="http://schemas.microsoft.com/office/powerpoint/2010/main" val="6204615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C20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BE1543-BA94-4800-8677-1A291B19B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4F0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F4F0E8"/>
                </a:solidFill>
                <a:latin typeface="Helvetica Neue"/>
                <a:ea typeface="Helvetica Neue"/>
                <a:cs typeface="Helvetica Neue"/>
              </a:rPr>
              <a:t>Next 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7DF4A1-8B79-43DD-8FEC-1D3897886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229350"/>
            <a:ext cx="36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EBC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AEBCC7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F56333-A9C8-4482-9B45-954B4740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19275"/>
            <a:ext cx="3000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4F0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F4F0E8"/>
                </a:solidFill>
                <a:latin typeface="Helvetica Neue"/>
                <a:ea typeface="Helvetica Neue"/>
                <a:cs typeface="Helvetica Neue"/>
              </a:rPr>
              <a:t>Unfamiliar diffs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D81DF6-E62B-4F51-AD3E-57C9A3F8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819275"/>
            <a:ext cx="7334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AEBC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AEBCC7"/>
                </a:solidFill>
                <a:latin typeface="Helvetica Neue"/>
                <a:ea typeface="Helvetica Neue"/>
                <a:cs typeface="Helvetica Neue"/>
              </a:rPr>
              <a:t>Record expected facts before independent review.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99236D-314E-417E-A1BA-D335E37C7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3000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4F0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F4F0E8"/>
                </a:solidFill>
                <a:latin typeface="Helvetica Neue"/>
                <a:ea typeface="Helvetica Neue"/>
                <a:cs typeface="Helvetica Neue"/>
              </a:rPr>
              <a:t>Reviewer study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9121AB-FF8F-4145-8DB0-6D0023851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6050"/>
            <a:ext cx="7334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AEBC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AEBCC7"/>
                </a:solidFill>
                <a:latin typeface="Helvetica Neue"/>
                <a:ea typeface="Helvetica Neue"/>
                <a:cs typeface="Helvetica Neue"/>
              </a:rPr>
              <a:t>Measure whether evidence helps people correct misleading claims.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7FE2B8-6729-44F6-A829-4BBF0215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52825"/>
            <a:ext cx="3000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4F0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F4F0E8"/>
                </a:solidFill>
                <a:latin typeface="Helvetica Neue"/>
                <a:ea typeface="Helvetica Neue"/>
                <a:cs typeface="Helvetica Neue"/>
              </a:rPr>
              <a:t>Product QA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DB1857-5EE1-4CB1-9F0E-E19B682C5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52825"/>
            <a:ext cx="7334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AEBC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AEBCC7"/>
                </a:solidFill>
                <a:latin typeface="Helvetica Neue"/>
                <a:ea typeface="Helvetica Neue"/>
                <a:cs typeface="Helvetica Neue"/>
              </a:rPr>
              <a:t>Exercise keyboard access, responsive layouts and omitted context.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AF7553-A3B1-4EE4-936C-328F8E0D7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19600"/>
            <a:ext cx="3000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4F0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F4F0E8"/>
                </a:solidFill>
                <a:latin typeface="Helvetica Neue"/>
                <a:ea typeface="Helvetica Neue"/>
                <a:cs typeface="Helvetica Neue"/>
              </a:rPr>
              <a:t>Demonstration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9CEFF3-B6E9-4842-B0CC-ECC4B1545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419600"/>
            <a:ext cx="7334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AEBC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AEBCC7"/>
                </a:solidFill>
                <a:latin typeface="Helvetica Neue"/>
                <a:ea typeface="Helvetica Neue"/>
                <a:cs typeface="Helvetica Neue"/>
              </a:rPr>
              <a:t>Record an actual CLI run; browser UI demo remains pending.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8E0DBC-95AF-4699-82D9-45666662F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76900"/>
            <a:ext cx="1076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4F0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4F0E8"/>
                </a:solidFill>
                <a:latin typeface="Helvetica Neue"/>
                <a:ea typeface="Helvetica Neue"/>
                <a:cs typeface="Helvetica Neue"/>
              </a:rPr>
              <a:t>Public source: github.com/alexsolonsky/evidencedesk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18BB72-5AC6-43FE-B139-60E9B9720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912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EBC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AEBCC7"/>
                </a:solidFill>
                <a:latin typeface="Helvetica Neue"/>
                <a:ea typeface="Helvetica Neue"/>
                <a:cs typeface="Helvetica Neue"/>
              </a:rPr>
              <a:t>Aleksei Solonskii / Alex SOLONSKY</a:t>
            </a:r>
          </a:p>
        </p:txBody>
      </p:sp>
    </p:spTree>
    <p:extLst>
      <p:ext uri="{BB962C8B-B14F-4D97-AF65-F5344CB8AC3E}">
        <p14:creationId xmlns:p14="http://schemas.microsoft.com/office/powerpoint/2010/main" val="13838332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2026-09-11T17:16:00.3120000Z</dcterms:created>
  <dcterms:modified xsi:type="dcterms:W3CDTF">2026-09-11T17:16:00.3120000Z</dcterms:modified>
</coreProperties>
</file>